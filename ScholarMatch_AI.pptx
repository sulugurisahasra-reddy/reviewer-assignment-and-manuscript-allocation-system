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38f4a9df-8f9c-756a-3422-a563173d9db0}">
          <p14:sldIdLst>
            <p14:sldId id="256"/>
            <p14:sldId id="257"/>
          </p14:sldIdLst>
        </p14:section>
        <p14:section name="Method" id="{5e71f395-3113-1ed7-253f-a6810c0e6c24}">
          <p14:sldIdLst>
            <p14:sldId id="258"/>
            <p14:sldId id="259"/>
            <p14:sldId id="260"/>
          </p14:sldIdLst>
        </p14:section>
        <p14:section name="Results" id="{ec4e8c06-38c2-c561-c99d-dab19defac03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ScholarMatch AI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91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Intelligent Reviewer–Manuscript Allocation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40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Automated Research Paper Matching Using Similarity and Graph Algorithms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Team Members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01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Sahasra  •  Swathi  •  Chethana  •  Vaishnavi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B.Tech – Computer Science and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Problem Statement &amp; Objective</a:t>
            </a:r>
            <a:endParaRPr lang="en-US" sz="2600" dirty="0"/>
          </a:p>
        </p:txBody>
      </p:sp>
      <p:sp>
        <p:nvSpPr>
          <p:cNvPr id="3" name="ProblemCard"/>
          <p:cNvSpPr/>
          <p:nvPr/>
        </p:nvSpPr>
        <p:spPr>
          <a:xfrm>
            <a:off x="457200" y="1143000"/>
            <a:ext cx="484632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Problem Statement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Research conferences receive a large number of manuscripts.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Manual reviewer assignment is time-consuming and inefficient.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 reviewer may lack expertise in a particular research area.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Uneven distribution can overload some reviewers.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An automated, intelligent allocation system is required.</a:t>
            </a:r>
            <a:endParaRPr lang="en-US" sz="1350" dirty="0"/>
          </a:p>
        </p:txBody>
      </p:sp>
      <p:sp>
        <p:nvSpPr>
          <p:cNvPr id="6" name="ObjectiveCard"/>
          <p:cNvSpPr/>
          <p:nvPr/>
        </p:nvSpPr>
        <p:spPr>
          <a:xfrm>
            <a:off x="5577840" y="114300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0644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Objective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173736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Automatically assign manuscripts to suitable reviewers based on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research-topic similarity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, while considering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reviewer capacity and allocation constraints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Proposed System &amp; Workflow</a:t>
            </a:r>
            <a:endParaRPr lang="en-US" sz="2600" dirty="0"/>
          </a:p>
        </p:txBody>
      </p:sp>
      <p:sp>
        <p:nvSpPr>
          <p:cNvPr id="3" name="Step1"/>
          <p:cNvSpPr/>
          <p:nvPr/>
        </p:nvSpPr>
        <p:spPr>
          <a:xfrm>
            <a:off x="457200" y="118872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Research Manuscripts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1371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tep2"/>
          <p:cNvSpPr/>
          <p:nvPr/>
        </p:nvSpPr>
        <p:spPr>
          <a:xfrm>
            <a:off x="2148840" y="118872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48840" y="11887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Paper / Abstract Processing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371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tep3"/>
          <p:cNvSpPr/>
          <p:nvPr/>
        </p:nvSpPr>
        <p:spPr>
          <a:xfrm>
            <a:off x="3840480" y="118872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0" y="11887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Reviewer Expertise Profiles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371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tep4"/>
          <p:cNvSpPr/>
          <p:nvPr/>
        </p:nvSpPr>
        <p:spPr>
          <a:xfrm>
            <a:off x="5532120" y="118872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32120" y="11887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TF-IDF Vectorization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371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tep5"/>
          <p:cNvSpPr/>
          <p:nvPr/>
        </p:nvSpPr>
        <p:spPr>
          <a:xfrm>
            <a:off x="7223760" y="118872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11887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Cosine Similarity</a:t>
            </a:r>
            <a:endParaRPr lang="en-US" sz="1150" dirty="0"/>
          </a:p>
        </p:txBody>
      </p:sp>
      <p:sp>
        <p:nvSpPr>
          <p:cNvPr id="17" name="Step6"/>
          <p:cNvSpPr/>
          <p:nvPr/>
        </p:nvSpPr>
        <p:spPr>
          <a:xfrm>
            <a:off x="457200" y="233172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3317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Reviewer–Manuscript Compatibility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2514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tep7"/>
          <p:cNvSpPr/>
          <p:nvPr/>
        </p:nvSpPr>
        <p:spPr>
          <a:xfrm>
            <a:off x="2148840" y="233172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48840" y="23317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Graph-Based Allocation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2514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tep8"/>
          <p:cNvSpPr/>
          <p:nvPr/>
        </p:nvSpPr>
        <p:spPr>
          <a:xfrm>
            <a:off x="3840480" y="233172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40480" y="23317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Reviewer Assignments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2514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tep9"/>
          <p:cNvSpPr/>
          <p:nvPr/>
        </p:nvSpPr>
        <p:spPr>
          <a:xfrm>
            <a:off x="5532120" y="233172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32120" y="23317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Allocation History &amp; Analytics</a:t>
            </a:r>
            <a:endParaRPr lang="en-US" sz="1150" dirty="0"/>
          </a:p>
        </p:txBody>
      </p:sp>
      <p:sp>
        <p:nvSpPr>
          <p:cNvPr id="28" name="KeyIdea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611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Idea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system compares the research content of manuscripts with reviewer expertise and identifies the most relevant reviewer–manuscript pairs.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Manuscript–Reviewer Matching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Similarity-Based Matching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TF-IDF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converts manuscript and reviewer expertise text into numerical vectors based on important terms.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Cosine Similarity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measures the relevance between them:</a:t>
            </a:r>
            <a:endParaRPr lang="en-US" sz="1350" dirty="0"/>
          </a:p>
        </p:txBody>
      </p:sp>
      <p:sp>
        <p:nvSpPr>
          <p:cNvPr id="5" name="Formula"/>
          <p:cNvSpPr/>
          <p:nvPr/>
        </p:nvSpPr>
        <p:spPr>
          <a:xfrm>
            <a:off x="457200" y="2606040"/>
            <a:ext cx="45720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606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Similarity(A,B) = (A · B) / (‖A‖ ‖B‖)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29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Higher score = stronger research relevance.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threshold identifies compatible pairs.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Compatible pairs form a bipartite graph.</a:t>
            </a:r>
            <a:endParaRPr lang="en-US" sz="1300" dirty="0"/>
          </a:p>
        </p:txBody>
      </p:sp>
      <p:sp>
        <p:nvSpPr>
          <p:cNvPr id="8" name="GraphCard"/>
          <p:cNvSpPr/>
          <p:nvPr/>
        </p:nvSpPr>
        <p:spPr>
          <a:xfrm>
            <a:off x="5394960" y="1097280"/>
            <a:ext cx="3291840" cy="342900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778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Example</a:t>
            </a:r>
            <a:endParaRPr lang="en-US" sz="1300" dirty="0"/>
          </a:p>
        </p:txBody>
      </p:sp>
      <p:sp>
        <p:nvSpPr>
          <p:cNvPr id="10" name="Edge0"/>
          <p:cNvSpPr/>
          <p:nvPr/>
        </p:nvSpPr>
        <p:spPr>
          <a:xfrm flipV="1">
            <a:off x="6858000" y="1737360"/>
            <a:ext cx="914400" cy="18288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1" name="Edge1"/>
          <p:cNvSpPr/>
          <p:nvPr/>
        </p:nvSpPr>
        <p:spPr>
          <a:xfrm>
            <a:off x="6858000" y="1920240"/>
            <a:ext cx="914400" cy="7315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2" name="Edge2"/>
          <p:cNvSpPr/>
          <p:nvPr/>
        </p:nvSpPr>
        <p:spPr>
          <a:xfrm>
            <a:off x="6858000" y="3383280"/>
            <a:ext cx="914400" cy="18288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3" name="Edge3"/>
          <p:cNvSpPr/>
          <p:nvPr/>
        </p:nvSpPr>
        <p:spPr>
          <a:xfrm flipV="1">
            <a:off x="6858000" y="1737360"/>
            <a:ext cx="914400" cy="16459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4" name="Manuscript 1"/>
          <p:cNvSpPr/>
          <p:nvPr/>
        </p:nvSpPr>
        <p:spPr>
          <a:xfrm>
            <a:off x="5577840" y="1737360"/>
            <a:ext cx="1280160" cy="36576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77840" y="1737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Manuscript 1</a:t>
            </a:r>
            <a:endParaRPr lang="en-US" sz="1100" dirty="0"/>
          </a:p>
        </p:txBody>
      </p:sp>
      <p:sp>
        <p:nvSpPr>
          <p:cNvPr id="16" name="Manuscript 2"/>
          <p:cNvSpPr/>
          <p:nvPr/>
        </p:nvSpPr>
        <p:spPr>
          <a:xfrm>
            <a:off x="5577840" y="3200400"/>
            <a:ext cx="1280160" cy="36576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Manuscript 2</a:t>
            </a:r>
            <a:endParaRPr lang="en-US" sz="1100" dirty="0"/>
          </a:p>
        </p:txBody>
      </p:sp>
      <p:sp>
        <p:nvSpPr>
          <p:cNvPr id="18" name="Reviewer A"/>
          <p:cNvSpPr/>
          <p:nvPr/>
        </p:nvSpPr>
        <p:spPr>
          <a:xfrm>
            <a:off x="7772400" y="1554480"/>
            <a:ext cx="8229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1554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Reviewer A</a:t>
            </a:r>
            <a:endParaRPr lang="en-US" sz="1000" dirty="0"/>
          </a:p>
        </p:txBody>
      </p:sp>
      <p:sp>
        <p:nvSpPr>
          <p:cNvPr id="20" name="Reviewer B"/>
          <p:cNvSpPr/>
          <p:nvPr/>
        </p:nvSpPr>
        <p:spPr>
          <a:xfrm>
            <a:off x="7772400" y="2468880"/>
            <a:ext cx="8229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0" y="2468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Reviewer B</a:t>
            </a:r>
            <a:endParaRPr lang="en-US" sz="1000" dirty="0"/>
          </a:p>
        </p:txBody>
      </p:sp>
      <p:sp>
        <p:nvSpPr>
          <p:cNvPr id="22" name="Reviewer C"/>
          <p:cNvSpPr/>
          <p:nvPr/>
        </p:nvSpPr>
        <p:spPr>
          <a:xfrm>
            <a:off x="7772400" y="3383280"/>
            <a:ext cx="8229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3383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Reviewer 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Reviewer Allocation Algorithms</a:t>
            </a:r>
            <a:endParaRPr lang="en-US" sz="2600" dirty="0"/>
          </a:p>
        </p:txBody>
      </p:sp>
      <p:sp>
        <p:nvSpPr>
          <p:cNvPr id="3" name="Strategy1"/>
          <p:cNvSpPr/>
          <p:nvPr/>
        </p:nvSpPr>
        <p:spPr>
          <a:xfrm>
            <a:off x="45720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34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Maximum Bipartite Matching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2880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Manuscripts and reviewers form two separate sets.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Compatible pairs form graph edges.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Finds the maximum number of valid assignments.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Suitable for one-to-one matching.</a:t>
            </a:r>
            <a:endParaRPr lang="en-US" sz="1250" dirty="0"/>
          </a:p>
        </p:txBody>
      </p:sp>
      <p:sp>
        <p:nvSpPr>
          <p:cNvPr id="8" name="Strategy2"/>
          <p:cNvSpPr/>
          <p:nvPr/>
        </p:nvSpPr>
        <p:spPr>
          <a:xfrm>
            <a:off x="466344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4846320" y="12344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234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Edmonds-Karp Maximum Flow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82880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Models reviewer capacity explicitly.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Each reviewer takes a specified number of manuscripts.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Flow network: Source → Manuscript → Reviewer → Sink.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Maximizes feasible assignments within capacity.</a:t>
            </a:r>
            <a:endParaRPr lang="en-US" sz="1250" dirty="0"/>
          </a:p>
        </p:txBody>
      </p:sp>
      <p:sp>
        <p:nvSpPr>
          <p:cNvPr id="13" name="Advantage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Main Advantage 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Supports both matching-based and capacity-aware allocation.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Allocation Results &amp; Analytics</a:t>
            </a:r>
            <a:endParaRPr lang="en-US" sz="2600" dirty="0"/>
          </a:p>
        </p:txBody>
      </p:sp>
      <p:sp>
        <p:nvSpPr>
          <p:cNvPr id="3" name="Panel_Allocation Results"/>
          <p:cNvSpPr/>
          <p:nvPr/>
        </p:nvSpPr>
        <p:spPr>
          <a:xfrm>
            <a:off x="457200" y="1097280"/>
            <a:ext cx="26517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Allocation Results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Manuscript title / 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Assigned reviewer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Similarity score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Assignment status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Unassigned manuscripts</a:t>
            </a:r>
            <a:endParaRPr lang="en-US" sz="1200" dirty="0"/>
          </a:p>
        </p:txBody>
      </p:sp>
      <p:sp>
        <p:nvSpPr>
          <p:cNvPr id="6" name="Panel_Allocation History"/>
          <p:cNvSpPr/>
          <p:nvPr/>
        </p:nvSpPr>
        <p:spPr>
          <a:xfrm>
            <a:off x="3246120" y="1097280"/>
            <a:ext cx="26517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07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Allocation History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002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Allocation method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Assigned count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Unassigned count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Timestamp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Reviewer assignments</a:t>
            </a:r>
            <a:endParaRPr lang="en-US" sz="1200" dirty="0"/>
          </a:p>
        </p:txBody>
      </p:sp>
      <p:sp>
        <p:nvSpPr>
          <p:cNvPr id="9" name="PerfCard"/>
          <p:cNvSpPr/>
          <p:nvPr/>
        </p:nvSpPr>
        <p:spPr>
          <a:xfrm>
            <a:off x="6035040" y="1097280"/>
            <a:ext cx="26517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07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Performance Measurement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91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Efficiency = Assigned Papers ÷ Total Papers × 100</a:t>
            </a:r>
            <a:endParaRPr lang="en-US" sz="1500" dirty="0"/>
          </a:p>
        </p:txBody>
      </p:sp>
      <p:sp>
        <p:nvSpPr>
          <p:cNvPr id="12" name="Takeaway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474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Efficiency gives a measurable indication of allocation effectiveness, while stored history keeps every allocation run transparent.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Conclusion &amp; Future Scope</a:t>
            </a:r>
            <a:endParaRPr lang="en-US" sz="2600" dirty="0"/>
          </a:p>
        </p:txBody>
      </p:sp>
      <p:sp>
        <p:nvSpPr>
          <p:cNvPr id="3" name="ConclusionCard"/>
          <p:cNvSpPr/>
          <p:nvPr/>
        </p:nvSpPr>
        <p:spPr>
          <a:xfrm>
            <a:off x="457200" y="1097280"/>
            <a:ext cx="40233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ScholarMatch AI provides an automated approach for intelligent reviewer–manuscript allocation.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TF-IDF + Cosine Similarity + Bipartite Matching + Edmonds-Karp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identifies relevant reviewers and generates feasible assignments within reviewer capacity.</a:t>
            </a:r>
            <a:endParaRPr lang="en-US" sz="1250" dirty="0"/>
          </a:p>
        </p:txBody>
      </p:sp>
      <p:sp>
        <p:nvSpPr>
          <p:cNvPr id="6" name="FutureCard"/>
          <p:cNvSpPr/>
          <p:nvPr/>
        </p:nvSpPr>
        <p:spPr>
          <a:xfrm>
            <a:off x="4663440" y="1097280"/>
            <a:ext cx="40233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Future Scope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Multi-reviewer assignment per manuscript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Conflict-of-interest detection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Advanced semantic embeddings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Improved reviewer workload balancing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Reviewer performance &amp; expertise analysis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Automated allocation reports</a:t>
            </a:r>
            <a:endParaRPr lang="en-US" sz="1200" dirty="0"/>
          </a:p>
        </p:txBody>
      </p:sp>
      <p:sp>
        <p:nvSpPr>
          <p:cNvPr id="9" name="Outcome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Final Outcome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Relevant Manuscript → Suitable Reviewer → Balanced Allocation → Transparent Results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holarMatch">
  <a:themeElements>
    <a:clrScheme name="ScholarMatch">
      <a:dk1>
        <a:srgbClr val="1F2933"/>
      </a:dk1>
      <a:lt1>
        <a:srgbClr val="FFFFFF"/>
      </a:lt1>
      <a:dk2>
        <a:srgbClr val="14274E"/>
      </a:dk2>
      <a:lt2>
        <a:srgbClr val="EEF3F8"/>
      </a:lt2>
      <a:accent1>
        <a:srgbClr val="0E9AA7"/>
      </a:accent1>
      <a:accent2>
        <a:srgbClr val="F2A541"/>
      </a:accent2>
      <a:accent3>
        <a:srgbClr val="3D5A98"/>
      </a:accent3>
      <a:accent4>
        <a:srgbClr val="5BA67A"/>
      </a:accent4>
      <a:accent5>
        <a:srgbClr val="C8553D"/>
      </a:accent5>
      <a:accent6>
        <a:srgbClr val="7A8CA5"/>
      </a:accent6>
      <a:hlink>
        <a:srgbClr val="0E9AA7"/>
      </a:hlink>
      <a:folHlink>
        <a:srgbClr val="7A8CA5"/>
      </a:folHlink>
    </a:clrScheme>
    <a:fontScheme name="ScholarMatch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ScholarMatch AI</dc:title>
  <dc:subject>PptxGenJS Presentation</dc:subject>
  <dc:creator>PptxGenJS</dc:creator>
  <cp:lastModifiedBy>PptxGenJS</cp:lastModifiedBy>
  <cp:revision>1</cp:revision>
  <dcterms:created xsi:type="dcterms:W3CDTF">2026-10-06T05:24:15Z</dcterms:created>
  <dcterms:modified xsi:type="dcterms:W3CDTF">2026-10-06T05:24:15Z</dcterms:modified>
</cp:coreProperties>
</file>